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7" r:id="rId3"/>
    <p:sldId id="260" r:id="rId4"/>
    <p:sldId id="261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hali Jawariya" initials="NJ" lastIdx="1" clrIdx="0">
    <p:extLst>
      <p:ext uri="{19B8F6BF-5375-455C-9EA6-DF929625EA0E}">
        <p15:presenceInfo xmlns:p15="http://schemas.microsoft.com/office/powerpoint/2012/main" userId="7dbf2056e5fd26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82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82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3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12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3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12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33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38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97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92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64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A2A91B-B405-4D77-92DE-CED6663A98C9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359E29-8B71-4C0A-B71F-58FA0B9F64B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27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E2CA-E3A0-5FD1-D5BD-862711BA4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388" y="1111683"/>
            <a:ext cx="7475458" cy="297551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Garamond" panose="02020404030301010803" pitchFamily="18" charset="0"/>
              </a:rPr>
              <a:t>Title: </a:t>
            </a:r>
            <a:r>
              <a:rPr lang="en-US" sz="3200" dirty="0">
                <a:latin typeface="Garamond" panose="02020404030301010803" pitchFamily="18" charset="0"/>
              </a:rPr>
              <a:t>IT Ticket Analysis and Improvement Recommendations</a:t>
            </a:r>
            <a:br>
              <a:rPr lang="en-US" sz="3200" dirty="0">
                <a:latin typeface="Garamond" panose="02020404030301010803" pitchFamily="18" charset="0"/>
              </a:rPr>
            </a:br>
            <a:br>
              <a:rPr lang="en-US" sz="3200" dirty="0">
                <a:latin typeface="Garamond" panose="02020404030301010803" pitchFamily="18" charset="0"/>
              </a:rPr>
            </a:br>
            <a:r>
              <a:rPr lang="en-US" sz="3200" b="1" dirty="0">
                <a:latin typeface="Garamond" panose="02020404030301010803" pitchFamily="18" charset="0"/>
              </a:rPr>
              <a:t>Subtitle: </a:t>
            </a:r>
            <a:r>
              <a:rPr lang="en-US" sz="3200" dirty="0">
                <a:latin typeface="Garamond" panose="02020404030301010803" pitchFamily="18" charset="0"/>
              </a:rPr>
              <a:t>Data-Driven Insights to Optimize IT Support Operations</a:t>
            </a:r>
            <a:endParaRPr lang="en-IN" sz="3200" dirty="0">
              <a:latin typeface="Garamond" panose="020204040303010108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83358-827E-8EF7-06CF-2DF4BD372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9274" y="5586283"/>
            <a:ext cx="4804783" cy="885218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>
                <a:latin typeface="Garamond" panose="02020404030301010803" pitchFamily="18" charset="0"/>
              </a:rPr>
              <a:t>Date: 16-12-2024</a:t>
            </a:r>
          </a:p>
          <a:p>
            <a:r>
              <a:rPr lang="en-US" sz="2600" b="1" dirty="0">
                <a:latin typeface="Garamond" panose="02020404030301010803" pitchFamily="18" charset="0"/>
              </a:rPr>
              <a:t>Presented By Nihali Jawariya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86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B1A2-E408-328F-ABEB-83988A8B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890" y="433633"/>
            <a:ext cx="2465893" cy="132202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Objective: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4639-895A-862E-A810-6AE3F4BC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232" y="2001520"/>
            <a:ext cx="10035776" cy="3952240"/>
          </a:xfrm>
        </p:spPr>
        <p:txBody>
          <a:bodyPr>
            <a:normAutofit fontScale="92500" lnSpcReduction="10000"/>
          </a:bodyPr>
          <a:lstStyle/>
          <a:p>
            <a:pPr>
              <a:buClrTx/>
              <a:buSzPct val="105000"/>
              <a:buFont typeface="Wingdings" panose="05000000000000000000" pitchFamily="2" charset="2"/>
              <a:buChar char="Ø"/>
            </a:pPr>
            <a:r>
              <a:rPr lang="en-US" sz="2100" b="0" i="0" u="none" strike="noStrike" dirty="0">
                <a:effectLst/>
                <a:latin typeface="Garamond" panose="02020404030301010803" pitchFamily="18" charset="0"/>
                <a:ea typeface="Cambria" panose="02040503050406030204" pitchFamily="18" charset="0"/>
              </a:rPr>
              <a:t>The objective is to analyze the IT support ticket management system to understand the  performance of    IT agents.</a:t>
            </a:r>
          </a:p>
          <a:p>
            <a:pPr>
              <a:buClrTx/>
              <a:buSzPct val="105000"/>
              <a:buFont typeface="Wingdings" panose="05000000000000000000" pitchFamily="2" charset="2"/>
              <a:buChar char="Ø"/>
            </a:pPr>
            <a:r>
              <a:rPr lang="en-US" sz="2100" dirty="0">
                <a:latin typeface="Garamond" panose="02020404030301010803" pitchFamily="18" charset="0"/>
              </a:rPr>
              <a:t>Assessing the efficiency of ticket resolution, and the satisfaction levels of employees.</a:t>
            </a:r>
          </a:p>
          <a:p>
            <a:pPr>
              <a:buClrTx/>
              <a:buSzPct val="105000"/>
              <a:buFont typeface="Wingdings" panose="05000000000000000000" pitchFamily="2" charset="2"/>
              <a:buChar char="Ø"/>
            </a:pPr>
            <a:r>
              <a:rPr lang="en-US" sz="2100" dirty="0">
                <a:latin typeface="Garamond" panose="02020404030301010803" pitchFamily="18" charset="0"/>
                <a:ea typeface="Cambria" panose="02040503050406030204" pitchFamily="18" charset="0"/>
              </a:rPr>
              <a:t>I</a:t>
            </a:r>
            <a:r>
              <a:rPr lang="en-US" sz="2100" b="0" i="0" u="none" strike="noStrike" dirty="0">
                <a:effectLst/>
                <a:latin typeface="Garamond" panose="02020404030301010803" pitchFamily="18" charset="0"/>
                <a:ea typeface="Cambria" panose="02040503050406030204" pitchFamily="18" charset="0"/>
              </a:rPr>
              <a:t>dentify high and low performers among IT agents.</a:t>
            </a:r>
          </a:p>
          <a:p>
            <a:pPr>
              <a:buClrTx/>
              <a:buSzPct val="105000"/>
              <a:buFont typeface="Wingdings" panose="05000000000000000000" pitchFamily="2" charset="2"/>
              <a:buChar char="Ø"/>
            </a:pPr>
            <a:r>
              <a:rPr lang="en-US" sz="2100" b="0" i="0" u="none" strike="noStrike" dirty="0">
                <a:effectLst/>
                <a:latin typeface="Garamond" panose="02020404030301010803" pitchFamily="18" charset="0"/>
                <a:ea typeface="Cambria" panose="02040503050406030204" pitchFamily="18" charset="0"/>
              </a:rPr>
              <a:t>The ultimate goal is to make informed staffing decisions, including hiring, firing, and training, to enhance overall service quality and team performance</a:t>
            </a:r>
          </a:p>
          <a:p>
            <a:pPr marL="0" indent="0">
              <a:buClrTx/>
              <a:buSzPct val="105000"/>
              <a:buNone/>
            </a:pPr>
            <a:endParaRPr lang="en-US" sz="2100" b="0" i="0" u="none" strike="noStrike" dirty="0">
              <a:effectLst/>
              <a:latin typeface="Garamond" panose="02020404030301010803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Garamond" panose="02020404030301010803" pitchFamily="18" charset="0"/>
              </a:rPr>
              <a:t>Key objectives</a:t>
            </a:r>
            <a:r>
              <a:rPr lang="en-US" sz="4000" dirty="0">
                <a:latin typeface="Garamond" panose="02020404030301010803" pitchFamily="18" charset="0"/>
              </a:rPr>
              <a:t>:</a:t>
            </a:r>
          </a:p>
          <a:p>
            <a:pPr marL="0" indent="0">
              <a:buNone/>
            </a:pPr>
            <a:r>
              <a:rPr lang="en-US" sz="4000" dirty="0">
                <a:latin typeface="Garamond" panose="02020404030301010803" pitchFamily="18" charset="0"/>
              </a:rPr>
              <a:t> </a:t>
            </a:r>
            <a:r>
              <a:rPr lang="en-US" sz="2100" dirty="0">
                <a:latin typeface="Garamond" panose="02020404030301010803" pitchFamily="18" charset="0"/>
              </a:rPr>
              <a:t>Evaluate ticket volumes, resolution times, agent performance, and improvement opportunities.</a:t>
            </a:r>
            <a:endParaRPr lang="en-IN" sz="2100" dirty="0">
              <a:latin typeface="Garamond" panose="02020404030301010803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7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1669-5032-0F5B-1B27-F255F7A1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60" y="988906"/>
            <a:ext cx="3261360" cy="77771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Garamond" panose="02020404030301010803" pitchFamily="18" charset="0"/>
              </a:rPr>
              <a:t>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A2C98-0EFD-B161-5D75-004777C6C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2123334"/>
            <a:ext cx="10058400" cy="3451120"/>
          </a:xfrm>
        </p:spPr>
        <p:txBody>
          <a:bodyPr/>
          <a:lstStyle/>
          <a:p>
            <a:r>
              <a:rPr lang="en-US" b="1" dirty="0">
                <a:latin typeface="Garamond" panose="02020404030301010803" pitchFamily="18" charset="0"/>
              </a:rPr>
              <a:t>Tool:</a:t>
            </a:r>
            <a:r>
              <a:rPr lang="en-US" dirty="0">
                <a:latin typeface="Garamond" panose="02020404030301010803" pitchFamily="18" charset="0"/>
              </a:rPr>
              <a:t> Excel</a:t>
            </a:r>
          </a:p>
          <a:p>
            <a:r>
              <a:rPr lang="en-IN" b="1" dirty="0">
                <a:latin typeface="Garamond" panose="02020404030301010803" pitchFamily="18" charset="0"/>
              </a:rPr>
              <a:t>Data sources: </a:t>
            </a:r>
            <a:r>
              <a:rPr lang="en-US" dirty="0">
                <a:latin typeface="Garamond" panose="02020404030301010803" pitchFamily="18" charset="0"/>
              </a:rPr>
              <a:t>IT tickets, agent performance records.</a:t>
            </a:r>
          </a:p>
          <a:p>
            <a:r>
              <a:rPr lang="en-US" b="1" dirty="0">
                <a:latin typeface="Garamond" panose="02020404030301010803" pitchFamily="18" charset="0"/>
              </a:rPr>
              <a:t>Approach: </a:t>
            </a:r>
            <a:r>
              <a:rPr lang="en-US" dirty="0">
                <a:latin typeface="Garamond" panose="02020404030301010803" pitchFamily="18" charset="0"/>
              </a:rPr>
              <a:t>Data cleaning and </a:t>
            </a:r>
            <a:r>
              <a:rPr lang="en-IN" dirty="0">
                <a:latin typeface="Garamond" panose="02020404030301010803" pitchFamily="18" charset="0"/>
              </a:rPr>
              <a:t>Preprocessing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IN" dirty="0">
                <a:latin typeface="Garamond" panose="02020404030301010803" pitchFamily="18" charset="0"/>
              </a:rPr>
              <a:t>Exploratory Data Analysis (EDA)</a:t>
            </a:r>
            <a:r>
              <a:rPr lang="en-US" dirty="0">
                <a:latin typeface="Garamond" panose="02020404030301010803" pitchFamily="18" charset="0"/>
              </a:rPr>
              <a:t>, correlation studies, and trend analysis, some aggregate function, some string function, lookup, date function, </a:t>
            </a:r>
            <a:r>
              <a:rPr lang="en-IN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cost-benefit analysis, Segment analysis, what-if analysis</a:t>
            </a:r>
            <a:r>
              <a:rPr lang="en-US" dirty="0">
                <a:latin typeface="Garamond" panose="02020404030301010803" pitchFamily="18" charset="0"/>
              </a:rPr>
              <a:t>.</a:t>
            </a:r>
            <a:endParaRPr lang="en-IN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88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DDB4-3591-ED74-1224-8EF7674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74132"/>
            <a:ext cx="3389720" cy="1303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aramond" panose="02020404030301010803" pitchFamily="18" charset="0"/>
              </a:rPr>
              <a:t>Data overview:</a:t>
            </a:r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5225C-854A-EEFF-38DB-742BD91DB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82800"/>
            <a:ext cx="10058400" cy="3786294"/>
          </a:xfrm>
        </p:spPr>
        <p:txBody>
          <a:bodyPr>
            <a:normAutofit lnSpcReduction="10000"/>
          </a:bodyPr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Total sheets:- 2 ( Tickets and IT Agents sheet).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Total number of tickets raised:- 97498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Total no of IT agents:- 50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Time Span of data:- 2016 to 2020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Categorical columns:- 16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84FBDC-9ED8-CED2-D67B-CC80F1B03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97" y="3814835"/>
            <a:ext cx="4417242" cy="2060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2EB03F-74C8-FE16-D0CB-AB024FBD5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421" y="1915405"/>
            <a:ext cx="4750318" cy="173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4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8B4A-8265-9E3D-0E59-9B9EA351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7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79F4-0900-AD01-94B3-95A850B4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There were no missing values in the data.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cell in IT Agent sheet column B Full Name not contain the full name of agent we write full name of agent from their agent email.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Agent name in Tickets Sheet by using VLOOKUP.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using =DATE(D2,E2,F2) function combine birth year, month and date.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current age of agent by using =DATEDIF(G2,TODAY(),"y").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VLOOKUP to add age of agent column in Tickets sheet.</a:t>
            </a:r>
            <a:endParaRPr lang="en-IN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extract severity value from severity using </a:t>
            </a:r>
            <a:r>
              <a:rPr lang="en-US" sz="180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=IF(G3="0 - Unclasified",0, IF(G3="1 - Minor",1 , IF(G3="2 - Normal",2, IF(G3="3 - Mayor", 3, IF(G3="4 - Urgent", 4,"")))))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Garamond" panose="02020404030301010803" pitchFamily="18" charset="0"/>
              </a:rPr>
              <a:t>Used ‘Find and Replace’ feature to correct the spelling mistakes.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87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8B99-71D9-A141-4A9F-5E0E9209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Request Category: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C3968-A259-EE2A-D8EA-90A6D83EA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1682"/>
            <a:ext cx="5862320" cy="3451014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Garamond" panose="02020404030301010803" pitchFamily="18" charset="0"/>
              </a:rPr>
              <a:t>The system category has </a:t>
            </a:r>
            <a:r>
              <a:rPr lang="en-IN" sz="2000" dirty="0">
                <a:latin typeface="Garamond" panose="02020404030301010803" pitchFamily="18" charset="0"/>
              </a:rPr>
              <a:t>received maximum tickets among all categories, it received total 39002 tickets.</a:t>
            </a:r>
          </a:p>
          <a:p>
            <a:pPr marL="0" indent="0">
              <a:buClr>
                <a:schemeClr val="tx1"/>
              </a:buClr>
              <a:buNone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 least amount of tickets has been received from Hardware category which is 9733.</a:t>
            </a:r>
          </a:p>
          <a:p>
            <a:pPr marL="0" indent="0">
              <a:buClr>
                <a:schemeClr val="tx1"/>
              </a:buClr>
              <a:buNone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It is </a:t>
            </a:r>
            <a:r>
              <a:rPr lang="en-IN" sz="2000" dirty="0">
                <a:solidFill>
                  <a:srgbClr val="202124"/>
                </a:solidFill>
                <a:latin typeface="Garamond" panose="02020404030301010803" pitchFamily="18" charset="0"/>
              </a:rPr>
              <a:t>very important</a:t>
            </a:r>
            <a:r>
              <a:rPr lang="en-IN" sz="2000" dirty="0">
                <a:latin typeface="Garamond" panose="02020404030301010803" pitchFamily="18" charset="0"/>
              </a:rPr>
              <a:t> to understand distribution of ticket categories so that we can decide that which category need more improvement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sz="2000" dirty="0"/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CA3985-F2DB-622B-5F29-E2AC2CE97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599" y="2011682"/>
            <a:ext cx="4375347" cy="336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92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350F-37A3-791C-6FF5-BC0EFE5D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Agent ID: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B215C-1341-494E-797C-AA22895C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052328"/>
            <a:ext cx="10058399" cy="192881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Garamond" panose="02020404030301010803" pitchFamily="18" charset="0"/>
              </a:rPr>
              <a:t>Maximum no of tickets were held by agent id 48 which is 2027 tickets.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Garamond" panose="02020404030301010803" pitchFamily="18" charset="0"/>
              </a:rPr>
              <a:t>Minimum no of tickets were held by agent id 13 which is 1856 tickets.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Garamond" panose="02020404030301010803" pitchFamily="18" charset="0"/>
              </a:rPr>
              <a:t>Understanding of ticket distribution among IT agents is necessary to measure the performance of IT agents.</a:t>
            </a:r>
            <a:endParaRPr lang="en-IN" sz="2000" dirty="0">
              <a:latin typeface="Garamond" panose="02020404030301010803" pitchFamily="18" charset="0"/>
            </a:endParaRPr>
          </a:p>
          <a:p>
            <a:pPr>
              <a:buClr>
                <a:schemeClr val="tx1"/>
              </a:buClr>
            </a:pP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8CDBFDA-6F44-F82D-F5C9-316CBF9F6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07" y="3667028"/>
            <a:ext cx="10812546" cy="268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50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916A-B763-D45A-CDBE-EBB0EFEA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Issue Type: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A16A-1B6E-125C-ECB2-683B3040A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2241660"/>
            <a:ext cx="4998720" cy="402336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dirty="0"/>
              <a:t>The 73220 tickets are raised from IT Request.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dirty="0"/>
              <a:t>The 24278 tickets are raised from IT Error.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dirty="0"/>
              <a:t>It is very important to understand which Issue Type raised more tickets.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9432CE4-768F-81A3-3DA2-9A5E65F66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321" y="2081655"/>
            <a:ext cx="5029200" cy="326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92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1B40-EC0E-B0A6-CFB8-05B79E04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Fecha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-Year: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DCF08-E874-6D88-E643-6527BC10B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53006"/>
            <a:ext cx="5284666" cy="3616088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dirty="0"/>
              <a:t>The graph shows no. of tickets raised from 2016 to 2020.</a:t>
            </a:r>
          </a:p>
          <a:p>
            <a:pPr marL="0" indent="0">
              <a:buClrTx/>
              <a:buNone/>
            </a:pPr>
            <a:endParaRPr lang="en-US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Maximum no of tickets raised on 2020 which is 21490.</a:t>
            </a:r>
          </a:p>
          <a:p>
            <a:pPr marL="0" indent="0">
              <a:buClrTx/>
              <a:buNone/>
            </a:pPr>
            <a:endParaRPr lang="en-IN" sz="2000" dirty="0"/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Minimum no of tickets raised on 2016 which are 13051.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BB89302-9483-BD15-542C-F6C337C57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946" y="2149310"/>
            <a:ext cx="4773734" cy="337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73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E7DD-E96A-6F2E-F16B-C244EA37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Average Resolution Time (Days) vs. Request Category: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43F4B-8DAC-07F0-442A-4665315EF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549" y="1923069"/>
            <a:ext cx="5737152" cy="402336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Tickets raised from Hardware category takes the most to resolve.</a:t>
            </a:r>
          </a:p>
          <a:p>
            <a:pPr marL="0" indent="0">
              <a:buNone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Ticket raised from Login Access category gets resolved in just 0.3 days.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Understanding of resolution time of different request category is necessary to understand which request category is taking more time to get resolved. 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4D82F74-94C8-9932-0400-66D7B844A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701" y="1923069"/>
            <a:ext cx="4298187" cy="383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6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027D-BA47-E452-0FEC-BCA9608F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Average Satisfaction Rate vs Agent Age: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72ED2-29DC-E204-5705-CC81AC1A2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0774"/>
            <a:ext cx="5190398" cy="3459637"/>
          </a:xfrm>
        </p:spPr>
        <p:txBody>
          <a:bodyPr>
            <a:normAutofit fontScale="92500" lnSpcReduction="10000"/>
          </a:bodyPr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000" b="1" dirty="0">
                <a:latin typeface="Garamond" panose="02020404030301010803" pitchFamily="18" charset="0"/>
              </a:rPr>
              <a:t>Consistently High Satisfaction (Ages 28-38): </a:t>
            </a:r>
            <a:r>
              <a:rPr lang="en-US" sz="2000" dirty="0">
                <a:latin typeface="Garamond" panose="02020404030301010803" pitchFamily="18" charset="0"/>
              </a:rPr>
              <a:t>The satisfaction rate remains relatively stable and high in the age range of 28-38.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US" sz="2000" dirty="0">
              <a:latin typeface="Garamond" panose="02020404030301010803" pitchFamily="18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000" b="1" dirty="0">
                <a:latin typeface="Garamond" panose="02020404030301010803" pitchFamily="18" charset="0"/>
              </a:rPr>
              <a:t>Slight Dip in Mid-Age Group (Ages 39-43): </a:t>
            </a:r>
            <a:r>
              <a:rPr lang="en-US" sz="2000" dirty="0">
                <a:latin typeface="Garamond" panose="02020404030301010803" pitchFamily="18" charset="0"/>
              </a:rPr>
              <a:t>There is a noticeable dip in satisfaction levels around ages 39-43.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US" sz="2000" dirty="0">
              <a:latin typeface="Garamond" panose="02020404030301010803" pitchFamily="18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000" b="1" dirty="0">
                <a:latin typeface="Garamond" panose="02020404030301010803" pitchFamily="18" charset="0"/>
              </a:rPr>
              <a:t>Satisfaction Rebounds (Ages 44-52): </a:t>
            </a:r>
            <a:r>
              <a:rPr lang="en-US" sz="2000" dirty="0">
                <a:latin typeface="Garamond" panose="02020404030301010803" pitchFamily="18" charset="0"/>
              </a:rPr>
              <a:t>The satisfaction rate recovers and stays consistent towards the upper age bracket (44-52).</a:t>
            </a:r>
            <a:endParaRPr lang="en-IN" sz="2000" dirty="0">
              <a:latin typeface="Garamond" panose="02020404030301010803" pitchFamily="18" charset="0"/>
            </a:endParaRPr>
          </a:p>
          <a:p>
            <a:endParaRPr lang="en-IN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D2E5F3A-C268-5F9F-C155-BF0E3C79D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677" y="1960774"/>
            <a:ext cx="4868003" cy="387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968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6251-AA6E-44B7-5133-79B983DB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Average Satisfaction Rate vs.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Fecha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-Year: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3F38-97EB-A241-8D60-FAC35F3A6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52850"/>
            <a:ext cx="4998720" cy="381624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Steady Improvement: The satisfaction rate has consistently increased year over year from 2016 to 2020.</a:t>
            </a:r>
          </a:p>
          <a:p>
            <a:pPr marL="0" indent="0">
              <a:buNone/>
            </a:pPr>
            <a:endParaRPr lang="en-US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Significant Jump: The most noticeable rise in satisfaction occurred between 2016 and 2017.</a:t>
            </a:r>
          </a:p>
          <a:p>
            <a:pPr marL="0" indent="0">
              <a:buNone/>
            </a:pPr>
            <a:endParaRPr lang="en-US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Peak in 2020: 2020 recorded the highest satisfaction rate, suggesting successful efforts to boost employee morale.</a:t>
            </a:r>
            <a:endParaRPr lang="en-IN" sz="2000" dirty="0">
              <a:latin typeface="Garamond" panose="02020404030301010803" pitchFamily="18" charset="0"/>
            </a:endParaRPr>
          </a:p>
          <a:p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96AA5E6-CFC0-60FA-14E7-2E84F0ED4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88" y="1865471"/>
            <a:ext cx="5216792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787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329B-F85C-A96A-A9B0-9778F096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Analysis based on Satisfaction Rate vs. Employee ID: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B6C6-6FDD-AF38-B74A-D810F0C70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5990"/>
            <a:ext cx="10058400" cy="19344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 data has a total of 2000 employees, but we are only analysing performance of 10 employees.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 peak satisfaction rate is given by the employee no 9 which is close to 4.4.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 lowest satisfaction rate is given by no. 1 which is close to  3.9.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The satisfaction rate of the whole data ranges from 3.9 to 4.5.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E2D49C-1FEC-4379-1923-11AEDC9FE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1" y="3767024"/>
            <a:ext cx="10363829" cy="234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22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80A1-B128-BAE9-C792-DA279F8E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Average Resolution Time (Days) vs. Employee ID: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552E-7EC8-798F-BF07-B6CC1A95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8131"/>
            <a:ext cx="10058400" cy="1543482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Issues of employee no. 4 got resolved on just less than 4 days on an average.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Garamond" panose="02020404030301010803" pitchFamily="18" charset="0"/>
              </a:rPr>
              <a:t>While for Id no. 2 and 9 , it took more than 5 days.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A66977-D7D0-17F0-CF00-2ED33F5F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32" y="3101420"/>
            <a:ext cx="10180948" cy="296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268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4BBF-AD08-E7CA-62BF-A07F36F1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Average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Resoltion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 Time(Days) vs. Priority: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233A3-1516-BFC1-864C-926D2FA5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9920"/>
            <a:ext cx="5273040" cy="38608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This graph shows the resolution time of different priorities.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Unassigned priority tickets are taking less time to resolve than low priority tickets.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High Priority tickets get resolved in just 3.49 days.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It is crucial to understand that whether tickets are being resolved according to priorities or not.</a:t>
            </a:r>
          </a:p>
          <a:p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54E33BD-6A33-0932-74AB-87DA6D671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381" y="2018225"/>
            <a:ext cx="5273040" cy="362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674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7E74-DA02-1AC8-DD24-83B9B624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Request Category: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64404-2BFB-20F9-21A2-21E30853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8504"/>
            <a:ext cx="5171440" cy="388429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System-related requests dominate the ticket count with 39,002 tickets.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Login Access issues are the second highest, with 29,193 tickets.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Software requests are substantial but lower than System and Login Access.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Hardware requests are the least frequent, with only 9,733 tickets.</a:t>
            </a:r>
            <a:endParaRPr lang="en-IN" dirty="0">
              <a:latin typeface="Garamond" panose="02020404030301010803" pitchFamily="18" charset="0"/>
            </a:endParaRPr>
          </a:p>
          <a:p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1E91B20-1331-A3E0-250F-9AD47EC33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592" y="2008504"/>
            <a:ext cx="5546889" cy="369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833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BDA6-4F7B-BC26-86D8-87D4D210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Resolution Time: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948A-E1CE-A32E-F0BE-20D6D774F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040"/>
            <a:ext cx="4338320" cy="3898054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Most tickets (25,071) are resolved within 0 days.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Resolution times of 1 to 7 days also show a high ticket count, with a gradual decline.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Resolution times beyond 10 days are minimal.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Resolution efficiency decreases as time increases.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41C66E-DBA8-3B97-5A98-113FACC80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717" y="1881367"/>
            <a:ext cx="6146277" cy="389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84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5C3E-2E5B-D327-DE4E-81D9627C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Analysis based on Count of Ticket vs. Severity: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A460C-EAE5-0218-E37D-5686FBD31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2000"/>
            <a:ext cx="4673600" cy="383709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Normal severity tickets are the most common, with 88,656 tickets.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Major severity tickets are relatively few, with only 4,836.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Minor, Unclassified, and Urgent tickets have very low counts, with only 2,258 Minor, 356 Unclassified, and 1,392 Urgent tickets.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43F5371-18F0-8578-DEB1-7B494F8BA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073" y="1918863"/>
            <a:ext cx="5732470" cy="406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84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E693-CBA2-F144-8CED-5ADDDF4D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Strategic 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4A31-EF50-E772-5A22-2B377875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520" y="2052320"/>
            <a:ext cx="9794240" cy="38167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Hiring more agents can be one 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The current agent-to-ticket ratio is </a:t>
            </a:r>
            <a:r>
              <a:rPr lang="en-US" sz="2000" dirty="0" err="1">
                <a:latin typeface="Garamond" panose="02020404030301010803" pitchFamily="18" charset="0"/>
              </a:rPr>
              <a:t>approx</a:t>
            </a:r>
            <a:r>
              <a:rPr lang="en-US" sz="2000" dirty="0">
                <a:latin typeface="Garamond" panose="02020404030301010803" pitchFamily="18" charset="0"/>
              </a:rPr>
              <a:t> 1912 tickets per agent over four years from 2016-2020.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 It seems that the resolution time is high due to agent overload, so hiring more agents can be the solution.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 Hiring more agents incurs salary costs, benefits, and overhead expenses.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 This could reduce the workload for existing agents, leading to faster ticket resolution times and more satisfaction rate as resolution time has increased.</a:t>
            </a:r>
            <a:endParaRPr lang="en-I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CF61-D904-F83F-A160-06AB0A3E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Strategic Recommendations: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1155C-26B1-1C22-B653-62DBE3AE0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Another option might be to improve training programs.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We should focus on agents with high resolution times and low satisfaction scores.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We found an insight in the analytics section(9</a:t>
            </a:r>
            <a:r>
              <a:rPr lang="en-US" sz="2000" baseline="30000" dirty="0">
                <a:latin typeface="Garamond" panose="02020404030301010803" pitchFamily="18" charset="0"/>
              </a:rPr>
              <a:t>th</a:t>
            </a:r>
            <a:r>
              <a:rPr lang="en-US" sz="2000" dirty="0">
                <a:latin typeface="Garamond" panose="02020404030301010803" pitchFamily="18" charset="0"/>
              </a:rPr>
              <a:t> slide) that </a:t>
            </a:r>
            <a:r>
              <a:rPr lang="en-IN" sz="2000" dirty="0">
                <a:latin typeface="Garamond" panose="02020404030301010803" pitchFamily="18" charset="0"/>
              </a:rPr>
              <a:t>agents </a:t>
            </a:r>
            <a:r>
              <a:rPr lang="en-US" sz="2000" dirty="0">
                <a:latin typeface="Garamond" panose="02020404030301010803" pitchFamily="18" charset="0"/>
              </a:rPr>
              <a:t>19,22,25,28,3,22, 7  have resolution time&gt;=5 days and satisfaction rate&lt;=4.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If their performance is due to a lack of training then improving training could be a cost-effective 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Better-trained agents can resolve tickets faster and more accurately, improving satisfaction scores and lowering resolution times.</a:t>
            </a:r>
            <a:endParaRPr lang="en-IN" sz="2000" dirty="0">
              <a:latin typeface="Garamond" panose="020204040303010108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659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CE74-F122-5A93-A79D-DC3949F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Strategic Recommendations: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E1DE-A14C-81A0-9792-29754F36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Garamond" panose="02020404030301010803" pitchFamily="18" charset="0"/>
              </a:rPr>
              <a:t>Upgrading ticket management software system is another good alternative.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Slow resolution times that are caused by inefficiencies in the current system</a:t>
            </a:r>
            <a:r>
              <a:rPr lang="en-IN" sz="2000" dirty="0">
                <a:latin typeface="Garamond" panose="02020404030301010803" pitchFamily="18" charset="0"/>
              </a:rPr>
              <a:t> can be improved by upgrading the system.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Software upgrades can be expensive (licensing, implementation, training on new software).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New software might automate certain tasks, track issues better, and improve the overall efficiency of ticket handling.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882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CD50-5190-645B-BF16-DF89417A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49966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5E54CE-478D-03C1-3B25-1A70F2F76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203" y="1536570"/>
            <a:ext cx="10058400" cy="4273079"/>
          </a:xfrm>
        </p:spPr>
      </p:pic>
    </p:spTree>
    <p:extLst>
      <p:ext uri="{BB962C8B-B14F-4D97-AF65-F5344CB8AC3E}">
        <p14:creationId xmlns:p14="http://schemas.microsoft.com/office/powerpoint/2010/main" val="1550845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E153-6621-54FD-9897-754193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66" y="988907"/>
            <a:ext cx="2890099" cy="839893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16DF-967F-5B47-ECB8-B6D85709F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25266"/>
            <a:ext cx="10058400" cy="3517107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We </a:t>
            </a:r>
            <a:r>
              <a:rPr lang="en-US" dirty="0" err="1">
                <a:latin typeface="Garamond" panose="02020404030301010803" pitchFamily="18" charset="0"/>
              </a:rPr>
              <a:t>analyse</a:t>
            </a:r>
            <a:r>
              <a:rPr lang="en-US" dirty="0">
                <a:latin typeface="Garamond" panose="02020404030301010803" pitchFamily="18" charset="0"/>
              </a:rPr>
              <a:t> that if we add additional software and also some agent need training so that our tickets are resolve very less time and  employ satisfaction rate also increases.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We want to hire more IT agent and so that our agent workload decreases and agent can resolve tickets as much as fast and with employ satisfaction.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As we seen that every year no. of tickets are increases with increasing satisfaction rate and decreasing resolution time so that here there is no need to fire any agent.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1872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2632</TotalTime>
  <Words>1499</Words>
  <Application>Microsoft Office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Garamond</vt:lpstr>
      <vt:lpstr>Wingdings</vt:lpstr>
      <vt:lpstr>Retrospect</vt:lpstr>
      <vt:lpstr>Title: IT Ticket Analysis and Improvement Recommendations  Subtitle: Data-Driven Insights to Optimize IT Support Operations</vt:lpstr>
      <vt:lpstr>Objective:</vt:lpstr>
      <vt:lpstr>Methodology:</vt:lpstr>
      <vt:lpstr>Data overview:</vt:lpstr>
      <vt:lpstr>Data Cleaning and Preparation</vt:lpstr>
      <vt:lpstr>Analysis based on Count of Ticket vs. Request Category:</vt:lpstr>
      <vt:lpstr>Analysis based on Count of Ticket vs. Agent ID:</vt:lpstr>
      <vt:lpstr>Analysis based on Count of Ticket vs. Issue Type:</vt:lpstr>
      <vt:lpstr>Analysis based on Count of Ticket vs. Fecha-Year:</vt:lpstr>
      <vt:lpstr>Analysis based on Average Resolution Time (Days) vs. Request Category:</vt:lpstr>
      <vt:lpstr>Analysis based on Average Satisfaction Rate vs Agent Age:</vt:lpstr>
      <vt:lpstr>Analysis based on Count of Average Satisfaction Rate vs. Fecha-Year:</vt:lpstr>
      <vt:lpstr>Analysis based on Analysis based on Satisfaction Rate vs. Employee ID:</vt:lpstr>
      <vt:lpstr>Analysis based on Count of Average Resolution Time (Days) vs. Employee ID:</vt:lpstr>
      <vt:lpstr>Analysis based on Count of Average Resoltion Time(Days) vs. Priority:</vt:lpstr>
      <vt:lpstr>Analysis based on Count of Ticket vs. Request Category:</vt:lpstr>
      <vt:lpstr>Analysis based on Count of Ticket vs. Resolution Time:</vt:lpstr>
      <vt:lpstr>Analysis based on Count of Ticket vs. Severity:</vt:lpstr>
      <vt:lpstr>Strategic Recommendations:</vt:lpstr>
      <vt:lpstr>Strategic Recommendations:</vt:lpstr>
      <vt:lpstr>Strategic Recommendations:</vt:lpstr>
      <vt:lpstr>Dashboard: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Nihali Jawariya</dc:creator>
  <cp:lastModifiedBy>Nihali Jawariya</cp:lastModifiedBy>
  <cp:revision>7</cp:revision>
  <dcterms:created xsi:type="dcterms:W3CDTF">2024-12-16T09:22:49Z</dcterms:created>
  <dcterms:modified xsi:type="dcterms:W3CDTF">2025-01-04T09:21:41Z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1217884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S10.3.1</vt:lpwstr>
  </property>
</Properties>
</file>